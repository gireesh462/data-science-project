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Gireesh462/Data-Science-Project" TargetMode="External"/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4" Type="http://schemas.openxmlformats.org/officeDocument/2006/relationships/image" Target="../media/image-8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F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0" y="182880"/>
            <a:ext cx="2011680" cy="20116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457200"/>
            <a:ext cx="6583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Wildfire Risk</a:t>
            </a:r>
            <a:endParaRPr lang="en-US" sz="4400" dirty="0"/>
          </a:p>
        </p:txBody>
      </p:sp>
      <p:sp>
        <p:nvSpPr>
          <p:cNvPr id="4" name="Text 1"/>
          <p:cNvSpPr/>
          <p:nvPr/>
        </p:nvSpPr>
        <p:spPr>
          <a:xfrm>
            <a:off x="502920" y="1261872"/>
            <a:ext cx="6583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EA580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Prediction</a:t>
            </a:r>
            <a:endParaRPr lang="en-US" sz="4400" dirty="0"/>
          </a:p>
        </p:txBody>
      </p:sp>
      <p:sp>
        <p:nvSpPr>
          <p:cNvPr id="5" name="Text 2"/>
          <p:cNvSpPr/>
          <p:nvPr/>
        </p:nvSpPr>
        <p:spPr>
          <a:xfrm>
            <a:off x="502920" y="20116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Climate &amp; Environmental Data</a:t>
            </a:r>
            <a:endParaRPr lang="en-US" sz="1700" dirty="0"/>
          </a:p>
        </p:txBody>
      </p:sp>
      <p:sp>
        <p:nvSpPr>
          <p:cNvPr id="6" name="Shape 3"/>
          <p:cNvSpPr/>
          <p:nvPr/>
        </p:nvSpPr>
        <p:spPr>
          <a:xfrm>
            <a:off x="502920" y="2697480"/>
            <a:ext cx="2011680" cy="658368"/>
          </a:xfrm>
          <a:prstGeom prst="rect">
            <a:avLst/>
          </a:prstGeom>
          <a:solidFill>
            <a:srgbClr val="1A3448"/>
          </a:solidFill>
          <a:ln w="15240">
            <a:solidFill>
              <a:srgbClr val="0E749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94360" y="274320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594360" y="292608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Maragani Gireesh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2651760" y="2697480"/>
            <a:ext cx="2011680" cy="658368"/>
          </a:xfrm>
          <a:prstGeom prst="rect">
            <a:avLst/>
          </a:prstGeom>
          <a:solidFill>
            <a:srgbClr val="1A3448"/>
          </a:solidFill>
          <a:ln w="15240">
            <a:solidFill>
              <a:srgbClr val="0E749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743200" y="274320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Programme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2743200" y="292608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 of Data Science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4800600" y="2697480"/>
            <a:ext cx="2011680" cy="658368"/>
          </a:xfrm>
          <a:prstGeom prst="rect">
            <a:avLst/>
          </a:prstGeom>
          <a:solidFill>
            <a:srgbClr val="1A3448"/>
          </a:solidFill>
          <a:ln w="15240">
            <a:solidFill>
              <a:srgbClr val="0E749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892040" y="274320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4892040" y="292608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Andy Tai Hock Lin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6949440" y="2697480"/>
            <a:ext cx="2011680" cy="658368"/>
          </a:xfrm>
          <a:prstGeom prst="rect">
            <a:avLst/>
          </a:prstGeom>
          <a:solidFill>
            <a:srgbClr val="1A3448"/>
          </a:solidFill>
          <a:ln w="15240">
            <a:solidFill>
              <a:srgbClr val="0E749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7040880" y="274320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7040880" y="292608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Weeks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502920" y="3566160"/>
            <a:ext cx="8412480" cy="50292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639312"/>
            <a:ext cx="292608" cy="292608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1005840" y="361188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Dataset: 1.88M US Wildfires (Kaggle)  ·  Models: Ridge · Random Forest · XGBoost · MLP Neural Network</a:t>
            </a:r>
            <a:endParaRPr lang="en-US" sz="1100" dirty="0"/>
          </a:p>
        </p:txBody>
      </p:sp>
      <p:sp>
        <p:nvSpPr>
          <p:cNvPr id="21" name="Text 17"/>
          <p:cNvSpPr/>
          <p:nvPr/>
        </p:nvSpPr>
        <p:spPr>
          <a:xfrm>
            <a:off x="502920" y="4251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github.com/Gireesh462/Data-Science-Project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F2D"/>
          </a:solidFill>
          <a:ln w="12700">
            <a:solidFill>
              <a:srgbClr val="0D1F2D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82880"/>
            <a:ext cx="502920" cy="5029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51560" y="164592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Project Overview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365760" y="1078992"/>
            <a:ext cx="841248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365760" y="1078992"/>
            <a:ext cx="502920" cy="109728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987552" y="1152144"/>
            <a:ext cx="768096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D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Wildfires pose a serious threat to lives, ecosystems, and infrastructure across the United States. This project applies machine learning to predict whether a wildfire event is High Risk or Low Risk, using 1.88 million historical wildfire records spanning 1992 to 2015.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365760" y="2331720"/>
            <a:ext cx="841248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365760" y="2331720"/>
            <a:ext cx="502920" cy="109728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987552" y="2404872"/>
            <a:ext cx="768096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D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classification models are built and evaluated — Ridge Classifier, Random Forest, XGBoost, and MLP Neural Network. Class imbalance is handled using Balanced Bagging Classifier, and XGBoost is fine-tuned with Optuna hyperparameter optimisation.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365760" y="3584448"/>
            <a:ext cx="841248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65760" y="3584448"/>
            <a:ext cx="502920" cy="1097280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987552" y="3657600"/>
            <a:ext cx="768096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D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project is evaluated using Accuracy, F1-Score, ROC-AUC, and 5-Fold Stratified Cross-Validation. ELI5 explainability identifies the environmental features that most strongly influence wildfire risk. All work is implemented in Python on Google Colab.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F2D"/>
          </a:solidFill>
          <a:ln w="12700">
            <a:solidFill>
              <a:srgbClr val="0D1F2D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82880"/>
            <a:ext cx="502920" cy="5029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51560" y="164592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Research Questions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365760" y="1005840"/>
            <a:ext cx="8412480" cy="713232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48640" y="1024128"/>
            <a:ext cx="80467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"To what extent can machine learning models accurately predict wildfire risk classification using historical climate and environmental data?"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365760" y="1874520"/>
            <a:ext cx="4206240" cy="120700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365760" y="1874520"/>
            <a:ext cx="731520" cy="1207008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84048" y="2240280"/>
            <a:ext cx="6949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RQ1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1207008" y="1965960"/>
            <a:ext cx="3273552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0D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model — Ridge Classifier, Random Forest, XGBoost, or MLP Neural Network — achieves the highest ROC-AUC score?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800600" y="1874520"/>
            <a:ext cx="4206240" cy="120700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800600" y="1874520"/>
            <a:ext cx="731520" cy="1207008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818888" y="2240280"/>
            <a:ext cx="6949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RQ2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5641848" y="1965960"/>
            <a:ext cx="3273552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0D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environmental features are the strongest predictors of High Risk wildfire events, identified through ELI5 explainability?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365760" y="3264408"/>
            <a:ext cx="4206240" cy="120700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365760" y="3264408"/>
            <a:ext cx="731520" cy="1207008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384048" y="3630168"/>
            <a:ext cx="6949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RQ3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1207008" y="3355848"/>
            <a:ext cx="3273552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0D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does Balanced Bagging Classifier improve F1-score on the class-imbalanced wildfire dataset?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800600" y="3264408"/>
            <a:ext cx="4206240" cy="120700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4800600" y="3264408"/>
            <a:ext cx="731520" cy="1207008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818888" y="3630168"/>
            <a:ext cx="6949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RQ4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5641848" y="3355848"/>
            <a:ext cx="3273552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0D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much does Optuna hyperparameter tuning improve XGBoost performance over its default configuration?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F2D"/>
          </a:solidFill>
          <a:ln w="12700">
            <a:solidFill>
              <a:srgbClr val="0D1F2D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82880"/>
            <a:ext cx="502920" cy="5029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51560" y="164592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Project Objectives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365760" y="1051560"/>
            <a:ext cx="4206240" cy="676656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457200" y="1234440"/>
            <a:ext cx="310896" cy="310896"/>
          </a:xfrm>
          <a:prstGeom prst="ellipse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57200" y="12344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877824" y="1106424"/>
            <a:ext cx="36027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0D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 the 1.88M US Wildfire dataset from Kaggle using the kagglehub API.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365760" y="1856232"/>
            <a:ext cx="4206240" cy="676656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57200" y="2039112"/>
            <a:ext cx="310896" cy="310896"/>
          </a:xfrm>
          <a:prstGeom prst="ellipse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57200" y="203911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877824" y="1911096"/>
            <a:ext cx="36027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0D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and preprocess data — missing values, encoding, duplicates.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365760" y="2660904"/>
            <a:ext cx="4206240" cy="676656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457200" y="2843784"/>
            <a:ext cx="310896" cy="310896"/>
          </a:xfrm>
          <a:prstGeom prst="ellipse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57200" y="284378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877824" y="2715768"/>
            <a:ext cx="36027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0D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 features: SEASON, RISK_BINARY, FIRE_SIZE_LOG, REGION.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365760" y="3465576"/>
            <a:ext cx="4206240" cy="676656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457200" y="3648456"/>
            <a:ext cx="310896" cy="310896"/>
          </a:xfrm>
          <a:prstGeom prst="ellipse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57200" y="364845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877824" y="3520440"/>
            <a:ext cx="36027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0D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Balanced Bagging Classifier to handle the 90/10 class imbalance.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365760" y="4270248"/>
            <a:ext cx="4206240" cy="676656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457200" y="4453128"/>
            <a:ext cx="310896" cy="310896"/>
          </a:xfrm>
          <a:prstGeom prst="ellipse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57200" y="445312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877824" y="4325112"/>
            <a:ext cx="36027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0D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 5 EDA charts and 1 interactive geospatial Folium heatmap.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4800600" y="1051560"/>
            <a:ext cx="4206240" cy="676656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4892040" y="1234440"/>
            <a:ext cx="310896" cy="310896"/>
          </a:xfrm>
          <a:prstGeom prst="ellipse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4892040" y="12344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28" name="Text 25"/>
          <p:cNvSpPr/>
          <p:nvPr/>
        </p:nvSpPr>
        <p:spPr>
          <a:xfrm>
            <a:off x="5312664" y="1106424"/>
            <a:ext cx="36027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0D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4 models: Ridge Classifier, Random Forest, XGBoost, MLP Neural Network.</a:t>
            </a:r>
            <a:endParaRPr lang="en-US" sz="1050" dirty="0"/>
          </a:p>
        </p:txBody>
      </p:sp>
      <p:sp>
        <p:nvSpPr>
          <p:cNvPr id="29" name="Shape 26"/>
          <p:cNvSpPr/>
          <p:nvPr/>
        </p:nvSpPr>
        <p:spPr>
          <a:xfrm>
            <a:off x="4800600" y="1856232"/>
            <a:ext cx="4206240" cy="676656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0" name="Shape 27"/>
          <p:cNvSpPr/>
          <p:nvPr/>
        </p:nvSpPr>
        <p:spPr>
          <a:xfrm>
            <a:off x="4892040" y="2039112"/>
            <a:ext cx="310896" cy="310896"/>
          </a:xfrm>
          <a:prstGeom prst="ellipse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4892040" y="203911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32" name="Text 29"/>
          <p:cNvSpPr/>
          <p:nvPr/>
        </p:nvSpPr>
        <p:spPr>
          <a:xfrm>
            <a:off x="5312664" y="1911096"/>
            <a:ext cx="36027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0D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Fine-tune XGBoost using Optuna to maximise ROC-AUC.</a:t>
            </a:r>
            <a:endParaRPr lang="en-US" sz="1050" dirty="0"/>
          </a:p>
        </p:txBody>
      </p:sp>
      <p:sp>
        <p:nvSpPr>
          <p:cNvPr id="33" name="Shape 30"/>
          <p:cNvSpPr/>
          <p:nvPr/>
        </p:nvSpPr>
        <p:spPr>
          <a:xfrm>
            <a:off x="4800600" y="2660904"/>
            <a:ext cx="4206240" cy="676656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4" name="Shape 31"/>
          <p:cNvSpPr/>
          <p:nvPr/>
        </p:nvSpPr>
        <p:spPr>
          <a:xfrm>
            <a:off x="4892040" y="2843784"/>
            <a:ext cx="310896" cy="310896"/>
          </a:xfrm>
          <a:prstGeom prst="ellipse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4892040" y="284378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36" name="Text 33"/>
          <p:cNvSpPr/>
          <p:nvPr/>
        </p:nvSpPr>
        <p:spPr>
          <a:xfrm>
            <a:off x="5312664" y="2715768"/>
            <a:ext cx="36027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0D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with Accuracy, F1, ROC-AUC, PR Curve, and 5-Fold Stratified CV.</a:t>
            </a:r>
            <a:endParaRPr lang="en-US" sz="1050" dirty="0"/>
          </a:p>
        </p:txBody>
      </p:sp>
      <p:sp>
        <p:nvSpPr>
          <p:cNvPr id="37" name="Shape 34"/>
          <p:cNvSpPr/>
          <p:nvPr/>
        </p:nvSpPr>
        <p:spPr>
          <a:xfrm>
            <a:off x="4800600" y="3465576"/>
            <a:ext cx="4206240" cy="676656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8" name="Shape 35"/>
          <p:cNvSpPr/>
          <p:nvPr/>
        </p:nvSpPr>
        <p:spPr>
          <a:xfrm>
            <a:off x="4892040" y="3648456"/>
            <a:ext cx="310896" cy="310896"/>
          </a:xfrm>
          <a:prstGeom prst="ellipse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4892040" y="364845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sp>
        <p:nvSpPr>
          <p:cNvPr id="40" name="Text 37"/>
          <p:cNvSpPr/>
          <p:nvPr/>
        </p:nvSpPr>
        <p:spPr>
          <a:xfrm>
            <a:off x="5312664" y="3520440"/>
            <a:ext cx="36027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0D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ELI5 to identify top environmental predictors of wildfire risk.</a:t>
            </a:r>
            <a:endParaRPr lang="en-US" sz="1050" dirty="0"/>
          </a:p>
        </p:txBody>
      </p:sp>
      <p:sp>
        <p:nvSpPr>
          <p:cNvPr id="41" name="Shape 38"/>
          <p:cNvSpPr/>
          <p:nvPr/>
        </p:nvSpPr>
        <p:spPr>
          <a:xfrm>
            <a:off x="4800600" y="4270248"/>
            <a:ext cx="4206240" cy="676656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42" name="Shape 39"/>
          <p:cNvSpPr/>
          <p:nvPr/>
        </p:nvSpPr>
        <p:spPr>
          <a:xfrm>
            <a:off x="4892040" y="4453128"/>
            <a:ext cx="310896" cy="310896"/>
          </a:xfrm>
          <a:prstGeom prst="ellipse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4892040" y="445312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44" name="Text 41"/>
          <p:cNvSpPr/>
          <p:nvPr/>
        </p:nvSpPr>
        <p:spPr>
          <a:xfrm>
            <a:off x="5312664" y="4325112"/>
            <a:ext cx="36027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0D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all code to GitHub and save all outputs to Google Drive.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F2D"/>
          </a:solidFill>
          <a:ln w="12700">
            <a:solidFill>
              <a:srgbClr val="0D1F2D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82880"/>
            <a:ext cx="502920" cy="5029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51560" y="164592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Models &amp; Techniques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274320" y="1024128"/>
            <a:ext cx="274320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274320" y="1024128"/>
            <a:ext cx="2743200" cy="45720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65760" y="1078992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Ridge Classifier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384048" y="1554480"/>
            <a:ext cx="2523744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0D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model with L2 regularisation. Simple and fast — all other models must beat it.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3182112" y="1024128"/>
            <a:ext cx="274320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182112" y="1024128"/>
            <a:ext cx="2743200" cy="457200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273552" y="1078992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Random Forest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3291840" y="1554480"/>
            <a:ext cx="2523744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0D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Handles noisy wildfire data well. Reduces overfitting. Strong on tabular structured data.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6089904" y="1024128"/>
            <a:ext cx="274320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6089904" y="1024128"/>
            <a:ext cx="2743200" cy="45720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181344" y="1078992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XGBoost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6199632" y="1554480"/>
            <a:ext cx="2523744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0D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performer on structured tabular data. Fine-tuned with Optuna for maximum accuracy.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274320" y="3017520"/>
            <a:ext cx="274320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274320" y="3017520"/>
            <a:ext cx="2743200" cy="4572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365760" y="3072384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MLP Neural Network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384048" y="3547872"/>
            <a:ext cx="2523744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0D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Captures complex non-linear patterns between climate features. Deep learning comparison.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3182112" y="3017520"/>
            <a:ext cx="274320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3182112" y="3017520"/>
            <a:ext cx="2743200" cy="45720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3273552" y="3072384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Balanced Bagging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3291840" y="3547872"/>
            <a:ext cx="2523744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0D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Fixes 90/10 class imbalance by balancing each bootstrap sample automatically.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6089904" y="3017520"/>
            <a:ext cx="274320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6089904" y="3017520"/>
            <a:ext cx="2743200" cy="45720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6181344" y="3072384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Optuna + ELI5</a:t>
            </a:r>
            <a:endParaRPr lang="en-US" sz="1200" dirty="0"/>
          </a:p>
        </p:txBody>
      </p:sp>
      <p:sp>
        <p:nvSpPr>
          <p:cNvPr id="28" name="Text 25"/>
          <p:cNvSpPr/>
          <p:nvPr/>
        </p:nvSpPr>
        <p:spPr>
          <a:xfrm>
            <a:off x="6199632" y="3547872"/>
            <a:ext cx="2523744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0D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Optuna tunes XGBoost intelligently. ELI5 explains which features drive High Risk predictions.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F2D"/>
          </a:solidFill>
          <a:ln w="12700">
            <a:solidFill>
              <a:srgbClr val="0D1F2D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82880"/>
            <a:ext cx="502920" cy="5029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51560" y="164592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Week-by-Week Plan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274320" y="1005840"/>
            <a:ext cx="621792" cy="512064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274320" y="1097280"/>
            <a:ext cx="6217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W1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969264" y="1005840"/>
            <a:ext cx="790956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060704" y="1097280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 May – 1 Jun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2542032" y="1097280"/>
            <a:ext cx="310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D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Setup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5742432" y="1097280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 ready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274320" y="1586484"/>
            <a:ext cx="621792" cy="512064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274320" y="1677924"/>
            <a:ext cx="6217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W2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969264" y="1586484"/>
            <a:ext cx="790956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060704" y="1677924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– 8 Jun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2542032" y="1677924"/>
            <a:ext cx="310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D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5742432" y="1677924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dataset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274320" y="2167128"/>
            <a:ext cx="621792" cy="51206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274320" y="2258568"/>
            <a:ext cx="6217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W3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969264" y="2167128"/>
            <a:ext cx="790956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1060704" y="2258568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– 15 Jun</a:t>
            </a:r>
            <a:endParaRPr lang="en-US" sz="950" dirty="0"/>
          </a:p>
        </p:txBody>
      </p:sp>
      <p:sp>
        <p:nvSpPr>
          <p:cNvPr id="21" name="Text 18"/>
          <p:cNvSpPr/>
          <p:nvPr/>
        </p:nvSpPr>
        <p:spPr>
          <a:xfrm>
            <a:off x="2542032" y="2258568"/>
            <a:ext cx="310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D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Eng. + EDA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5742432" y="2258568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matrix + 6 plots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274320" y="2747772"/>
            <a:ext cx="621792" cy="512064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274320" y="2839212"/>
            <a:ext cx="6217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W4</a:t>
            </a:r>
            <a:endParaRPr lang="en-US" sz="1300" dirty="0"/>
          </a:p>
        </p:txBody>
      </p:sp>
      <p:sp>
        <p:nvSpPr>
          <p:cNvPr id="25" name="Shape 22"/>
          <p:cNvSpPr/>
          <p:nvPr/>
        </p:nvSpPr>
        <p:spPr>
          <a:xfrm>
            <a:off x="969264" y="2747772"/>
            <a:ext cx="790956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1060704" y="2839212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– 22 Jun</a:t>
            </a:r>
            <a:endParaRPr lang="en-US" sz="950" dirty="0"/>
          </a:p>
        </p:txBody>
      </p:sp>
      <p:sp>
        <p:nvSpPr>
          <p:cNvPr id="27" name="Text 24"/>
          <p:cNvSpPr/>
          <p:nvPr/>
        </p:nvSpPr>
        <p:spPr>
          <a:xfrm>
            <a:off x="2542032" y="2839212"/>
            <a:ext cx="310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D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Training</a:t>
            </a:r>
            <a:endParaRPr lang="en-US" sz="1100" dirty="0"/>
          </a:p>
        </p:txBody>
      </p:sp>
      <p:sp>
        <p:nvSpPr>
          <p:cNvPr id="28" name="Text 25"/>
          <p:cNvSpPr/>
          <p:nvPr/>
        </p:nvSpPr>
        <p:spPr>
          <a:xfrm>
            <a:off x="5742432" y="2839212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trained models</a:t>
            </a:r>
            <a:endParaRPr lang="en-US" sz="1000" dirty="0"/>
          </a:p>
        </p:txBody>
      </p:sp>
      <p:sp>
        <p:nvSpPr>
          <p:cNvPr id="29" name="Shape 26"/>
          <p:cNvSpPr/>
          <p:nvPr/>
        </p:nvSpPr>
        <p:spPr>
          <a:xfrm>
            <a:off x="274320" y="3328416"/>
            <a:ext cx="621792" cy="512064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274320" y="3419856"/>
            <a:ext cx="6217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W5</a:t>
            </a:r>
            <a:endParaRPr lang="en-US" sz="1300" dirty="0"/>
          </a:p>
        </p:txBody>
      </p:sp>
      <p:sp>
        <p:nvSpPr>
          <p:cNvPr id="31" name="Shape 28"/>
          <p:cNvSpPr/>
          <p:nvPr/>
        </p:nvSpPr>
        <p:spPr>
          <a:xfrm>
            <a:off x="969264" y="3328416"/>
            <a:ext cx="790956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1060704" y="3419856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 – 29 Jun</a:t>
            </a:r>
            <a:endParaRPr lang="en-US" sz="950" dirty="0"/>
          </a:p>
        </p:txBody>
      </p:sp>
      <p:sp>
        <p:nvSpPr>
          <p:cNvPr id="33" name="Text 30"/>
          <p:cNvSpPr/>
          <p:nvPr/>
        </p:nvSpPr>
        <p:spPr>
          <a:xfrm>
            <a:off x="2542032" y="3419856"/>
            <a:ext cx="310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D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Optuna Tuning + Eval</a:t>
            </a:r>
            <a:endParaRPr lang="en-US" sz="1100" dirty="0"/>
          </a:p>
        </p:txBody>
      </p:sp>
      <p:sp>
        <p:nvSpPr>
          <p:cNvPr id="34" name="Text 31"/>
          <p:cNvSpPr/>
          <p:nvPr/>
        </p:nvSpPr>
        <p:spPr>
          <a:xfrm>
            <a:off x="5742432" y="3419856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Tuned XGBoost + eval plots</a:t>
            </a:r>
            <a:endParaRPr lang="en-US" sz="1000" dirty="0"/>
          </a:p>
        </p:txBody>
      </p:sp>
      <p:sp>
        <p:nvSpPr>
          <p:cNvPr id="35" name="Shape 32"/>
          <p:cNvSpPr/>
          <p:nvPr/>
        </p:nvSpPr>
        <p:spPr>
          <a:xfrm>
            <a:off x="274320" y="3909060"/>
            <a:ext cx="621792" cy="512064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274320" y="4000500"/>
            <a:ext cx="6217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W6</a:t>
            </a:r>
            <a:endParaRPr lang="en-US" sz="1300" dirty="0"/>
          </a:p>
        </p:txBody>
      </p:sp>
      <p:sp>
        <p:nvSpPr>
          <p:cNvPr id="37" name="Shape 34"/>
          <p:cNvSpPr/>
          <p:nvPr/>
        </p:nvSpPr>
        <p:spPr>
          <a:xfrm>
            <a:off x="969264" y="3909060"/>
            <a:ext cx="790956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1060704" y="4000500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Jun – 6 Jul</a:t>
            </a:r>
            <a:endParaRPr lang="en-US" sz="950" dirty="0"/>
          </a:p>
        </p:txBody>
      </p:sp>
      <p:sp>
        <p:nvSpPr>
          <p:cNvPr id="39" name="Text 36"/>
          <p:cNvSpPr/>
          <p:nvPr/>
        </p:nvSpPr>
        <p:spPr>
          <a:xfrm>
            <a:off x="2542032" y="4000500"/>
            <a:ext cx="310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D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Ch. 1–3</a:t>
            </a:r>
            <a:endParaRPr lang="en-US" sz="1100" dirty="0"/>
          </a:p>
        </p:txBody>
      </p:sp>
      <p:sp>
        <p:nvSpPr>
          <p:cNvPr id="40" name="Text 37"/>
          <p:cNvSpPr/>
          <p:nvPr/>
        </p:nvSpPr>
        <p:spPr>
          <a:xfrm>
            <a:off x="5742432" y="4000500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 1–3 drafted</a:t>
            </a:r>
            <a:endParaRPr lang="en-US" sz="1000" dirty="0"/>
          </a:p>
        </p:txBody>
      </p:sp>
      <p:sp>
        <p:nvSpPr>
          <p:cNvPr id="41" name="Shape 38"/>
          <p:cNvSpPr/>
          <p:nvPr/>
        </p:nvSpPr>
        <p:spPr>
          <a:xfrm>
            <a:off x="274320" y="4489704"/>
            <a:ext cx="621792" cy="512064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274320" y="4581144"/>
            <a:ext cx="6217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W7</a:t>
            </a:r>
            <a:endParaRPr lang="en-US" sz="1300" dirty="0"/>
          </a:p>
        </p:txBody>
      </p:sp>
      <p:sp>
        <p:nvSpPr>
          <p:cNvPr id="43" name="Shape 40"/>
          <p:cNvSpPr/>
          <p:nvPr/>
        </p:nvSpPr>
        <p:spPr>
          <a:xfrm>
            <a:off x="969264" y="4489704"/>
            <a:ext cx="7909560" cy="512064"/>
          </a:xfrm>
          <a:prstGeom prst="rect">
            <a:avLst/>
          </a:prstGeom>
          <a:solidFill>
            <a:srgbClr val="FFF7E6"/>
          </a:solidFill>
          <a:ln w="19050">
            <a:solidFill>
              <a:srgbClr val="D97706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1060704" y="4581144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– 15 Jul</a:t>
            </a:r>
            <a:endParaRPr lang="en-US" sz="950" dirty="0"/>
          </a:p>
        </p:txBody>
      </p:sp>
      <p:sp>
        <p:nvSpPr>
          <p:cNvPr id="45" name="Text 42"/>
          <p:cNvSpPr/>
          <p:nvPr/>
        </p:nvSpPr>
        <p:spPr>
          <a:xfrm>
            <a:off x="2542032" y="4581144"/>
            <a:ext cx="310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Completion</a:t>
            </a:r>
            <a:endParaRPr lang="en-US" sz="1100" dirty="0"/>
          </a:p>
        </p:txBody>
      </p:sp>
      <p:sp>
        <p:nvSpPr>
          <p:cNvPr id="46" name="Text 43"/>
          <p:cNvSpPr/>
          <p:nvPr/>
        </p:nvSpPr>
        <p:spPr>
          <a:xfrm>
            <a:off x="5742432" y="4581144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SUBMISSION ✓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4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F2D"/>
          </a:solidFill>
          <a:ln w="12700">
            <a:solidFill>
              <a:srgbClr val="0D1F2D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82880"/>
            <a:ext cx="502920" cy="5029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51560" y="164592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Evaluation Strategy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320040" y="1024128"/>
            <a:ext cx="4206240" cy="117043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320040" y="1024128"/>
            <a:ext cx="4206240" cy="36576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29768" y="1069848"/>
            <a:ext cx="39867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Accuracy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429768" y="1463040"/>
            <a:ext cx="3986784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0D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proportion of correctly classified wildfire events across all classes.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754880" y="1024128"/>
            <a:ext cx="4206240" cy="117043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54880" y="1024128"/>
            <a:ext cx="4206240" cy="36576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864608" y="1069848"/>
            <a:ext cx="39867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F1-Score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4864608" y="1463040"/>
            <a:ext cx="3986784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0D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Balances precision and recall — critical when dealing with imbalanced High/Low Risk classes.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320040" y="2368296"/>
            <a:ext cx="4206240" cy="117043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320040" y="2368296"/>
            <a:ext cx="4206240" cy="365760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29768" y="2414016"/>
            <a:ext cx="39867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ROC-AUC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429768" y="2807208"/>
            <a:ext cx="3986784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0D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Measures the model's ability to distinguish between High Risk and Low Risk events.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4754880" y="2368296"/>
            <a:ext cx="4206240" cy="117043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4754880" y="2368296"/>
            <a:ext cx="4206240" cy="3657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864608" y="2414016"/>
            <a:ext cx="39867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 Curve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4864608" y="2807208"/>
            <a:ext cx="3986784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0D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Precision-Recall curve for deeper analysis of performance on the minority High Risk class.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320040" y="3712464"/>
            <a:ext cx="4206240" cy="117043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320040" y="3712464"/>
            <a:ext cx="4206240" cy="36576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29768" y="3758184"/>
            <a:ext cx="39867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5-Fold Stratified CV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429768" y="4151376"/>
            <a:ext cx="3986784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0D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the model 5 times on different splits to confirm results are stable and generalisable.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4754880" y="3712464"/>
            <a:ext cx="4206240" cy="117043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4754880" y="3712464"/>
            <a:ext cx="4206240" cy="36576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4864608" y="3758184"/>
            <a:ext cx="39867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ELI5 Explainability</a:t>
            </a:r>
            <a:endParaRPr lang="en-US" sz="1200" dirty="0"/>
          </a:p>
        </p:txBody>
      </p:sp>
      <p:sp>
        <p:nvSpPr>
          <p:cNvPr id="28" name="Text 25"/>
          <p:cNvSpPr/>
          <p:nvPr/>
        </p:nvSpPr>
        <p:spPr>
          <a:xfrm>
            <a:off x="4864608" y="4151376"/>
            <a:ext cx="3986784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0D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Identifies the top environmental features driving High Risk wildfire predictions.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F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0" y="274320"/>
            <a:ext cx="2011680" cy="20116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548640"/>
            <a:ext cx="6400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</a:t>
            </a:r>
            <a:endParaRPr lang="en-US" sz="4800" dirty="0"/>
          </a:p>
        </p:txBody>
      </p:sp>
      <p:sp>
        <p:nvSpPr>
          <p:cNvPr id="4" name="Text 1"/>
          <p:cNvSpPr/>
          <p:nvPr/>
        </p:nvSpPr>
        <p:spPr>
          <a:xfrm>
            <a:off x="502920" y="150876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Wildfire Risk Prediction  ·  Master of Data Science Final Year Project</a:t>
            </a:r>
            <a:endParaRPr lang="en-US" sz="1300" dirty="0"/>
          </a:p>
        </p:txBody>
      </p:sp>
      <p:sp>
        <p:nvSpPr>
          <p:cNvPr id="5" name="Shape 2"/>
          <p:cNvSpPr/>
          <p:nvPr/>
        </p:nvSpPr>
        <p:spPr>
          <a:xfrm>
            <a:off x="502920" y="2103120"/>
            <a:ext cx="1920240" cy="804672"/>
          </a:xfrm>
          <a:prstGeom prst="rect">
            <a:avLst/>
          </a:prstGeom>
          <a:solidFill>
            <a:srgbClr val="1A3448"/>
          </a:solidFill>
          <a:ln w="15240">
            <a:solidFill>
              <a:srgbClr val="0E749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94360" y="2157984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594360" y="2359152"/>
            <a:ext cx="1737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Maragani Gireesh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2606040" y="2103120"/>
            <a:ext cx="1920240" cy="804672"/>
          </a:xfrm>
          <a:prstGeom prst="rect">
            <a:avLst/>
          </a:prstGeom>
          <a:solidFill>
            <a:srgbClr val="1A3448"/>
          </a:solidFill>
          <a:ln w="15240">
            <a:solidFill>
              <a:srgbClr val="0E749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2697480" y="2157984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2697480" y="2359152"/>
            <a:ext cx="1737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Andy Tai Hock Lin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709160" y="2103120"/>
            <a:ext cx="1920240" cy="804672"/>
          </a:xfrm>
          <a:prstGeom prst="rect">
            <a:avLst/>
          </a:prstGeom>
          <a:solidFill>
            <a:srgbClr val="1A3448"/>
          </a:solidFill>
          <a:ln w="15240">
            <a:solidFill>
              <a:srgbClr val="0E749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800600" y="2157984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Deadline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4800600" y="2359152"/>
            <a:ext cx="1737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15 July 2026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812280" y="2103120"/>
            <a:ext cx="1920240" cy="804672"/>
          </a:xfrm>
          <a:prstGeom prst="rect">
            <a:avLst/>
          </a:prstGeom>
          <a:solidFill>
            <a:srgbClr val="1A3448"/>
          </a:solidFill>
          <a:ln w="15240">
            <a:solidFill>
              <a:srgbClr val="0E749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903720" y="2157984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6903720" y="2359152"/>
            <a:ext cx="1737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 Weeks</a:t>
            </a:r>
            <a:endParaRPr lang="en-US" sz="1200" dirty="0"/>
          </a:p>
        </p:txBody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3154680"/>
            <a:ext cx="347472" cy="347472"/>
          </a:xfrm>
          <a:prstGeom prst="rect">
            <a:avLst/>
          </a:prstGeom>
        </p:spPr>
      </p:pic>
      <p:sp>
        <p:nvSpPr>
          <p:cNvPr id="18" name="Text 14">
            <a:hlinkClick r:id="rId3" tooltip=""/>
          </p:cNvPr>
          <p:cNvSpPr/>
          <p:nvPr/>
        </p:nvSpPr>
        <p:spPr>
          <a:xfrm>
            <a:off x="960120" y="3200400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u="sng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github.com/Gireesh462/Data-Science-Project</a:t>
            </a:r>
            <a:endParaRPr lang="en-US" sz="1200" dirty="0"/>
          </a:p>
        </p:txBody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3703320"/>
            <a:ext cx="347472" cy="347472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960120" y="3749040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Drive: drive.google.com/drive/folders/1qNq5ZLyEogtSL4f5DMWdhrM3tz9bf8xu</a:t>
            </a:r>
            <a:endParaRPr lang="en-US" sz="1200" dirty="0"/>
          </a:p>
        </p:txBody>
      </p:sp>
      <p:sp>
        <p:nvSpPr>
          <p:cNvPr id="21" name="Text 16"/>
          <p:cNvSpPr/>
          <p:nvPr/>
        </p:nvSpPr>
        <p:spPr>
          <a:xfrm>
            <a:off x="502920" y="43891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 May 2026 – 15 July 2026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Wildfire Risk Prediction — PDM</dc:title>
  <dc:subject>PptxGenJS Presentation</dc:subject>
  <dc:creator>PptxGenJS</dc:creator>
  <cp:lastModifiedBy>PptxGenJS</cp:lastModifiedBy>
  <cp:revision>1</cp:revision>
  <dcterms:created xsi:type="dcterms:W3CDTF">2026-06-04T09:54:16Z</dcterms:created>
  <dcterms:modified xsi:type="dcterms:W3CDTF">2026-06-04T09:54:16Z</dcterms:modified>
</cp:coreProperties>
</file>