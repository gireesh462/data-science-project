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5B081-DD7E-4279-A705-CF890F331BDF}" v="5" dt="2026-06-05T11:01:29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6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eesh Maragani" userId="7b77be64e8a698e0" providerId="LiveId" clId="{CE8411A5-33E3-40F7-BA9B-AC1457EF8048}"/>
    <pc:docChg chg="undo custSel modSld sldOrd">
      <pc:chgData name="Gireesh Maragani" userId="7b77be64e8a698e0" providerId="LiveId" clId="{CE8411A5-33E3-40F7-BA9B-AC1457EF8048}" dt="2026-06-05T13:45:48.293" v="82"/>
      <pc:docMkLst>
        <pc:docMk/>
      </pc:docMkLst>
      <pc:sldChg chg="addSp delSp modSp mod ord">
        <pc:chgData name="Gireesh Maragani" userId="7b77be64e8a698e0" providerId="LiveId" clId="{CE8411A5-33E3-40F7-BA9B-AC1457EF8048}" dt="2026-06-05T13:45:48.293" v="82"/>
        <pc:sldMkLst>
          <pc:docMk/>
          <pc:sldMk cId="0" sldId="258"/>
        </pc:sldMkLst>
        <pc:spChg chg="mod">
          <ac:chgData name="Gireesh Maragani" userId="7b77be64e8a698e0" providerId="LiveId" clId="{CE8411A5-33E3-40F7-BA9B-AC1457EF8048}" dt="2026-06-05T11:01:14.721" v="27" actId="207"/>
          <ac:spMkLst>
            <pc:docMk/>
            <pc:sldMk cId="0" sldId="258"/>
            <ac:spMk id="6" creationId="{00000000-0000-0000-0000-000000000000}"/>
          </ac:spMkLst>
        </pc:spChg>
        <pc:spChg chg="del">
          <ac:chgData name="Gireesh Maragani" userId="7b77be64e8a698e0" providerId="LiveId" clId="{CE8411A5-33E3-40F7-BA9B-AC1457EF8048}" dt="2026-06-05T06:12:56.236" v="0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Gireesh Maragani" userId="7b77be64e8a698e0" providerId="LiveId" clId="{CE8411A5-33E3-40F7-BA9B-AC1457EF8048}" dt="2026-06-05T06:13:08.058" v="3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06:13:05.998" v="2" actId="6549"/>
          <ac:spMkLst>
            <pc:docMk/>
            <pc:sldMk cId="0" sldId="258"/>
            <ac:spMk id="9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06:13:01.598" v="1" actId="6549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06:15:43.741" v="23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06:13:14.454" v="4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06:14:17.954" v="1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1:01:47.758" v="55" actId="207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Gireesh Maragani" userId="7b77be64e8a698e0" providerId="LiveId" clId="{CE8411A5-33E3-40F7-BA9B-AC1457EF8048}" dt="2026-06-05T06:14:07.532" v="12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Gireesh Maragani" userId="7b77be64e8a698e0" providerId="LiveId" clId="{CE8411A5-33E3-40F7-BA9B-AC1457EF8048}" dt="2026-06-05T06:14:06.168" v="11" actId="478"/>
          <ac:spMkLst>
            <pc:docMk/>
            <pc:sldMk cId="0" sldId="258"/>
            <ac:spMk id="20" creationId="{00000000-0000-0000-0000-000000000000}"/>
          </ac:spMkLst>
        </pc:spChg>
        <pc:spChg chg="add mod">
          <ac:chgData name="Gireesh Maragani" userId="7b77be64e8a698e0" providerId="LiveId" clId="{CE8411A5-33E3-40F7-BA9B-AC1457EF8048}" dt="2026-06-05T06:13:45.478" v="8"/>
          <ac:spMkLst>
            <pc:docMk/>
            <pc:sldMk cId="0" sldId="258"/>
            <ac:spMk id="23" creationId="{EAE34E9B-091D-8271-61C2-7C87BDB22CDB}"/>
          </ac:spMkLst>
        </pc:spChg>
      </pc:sldChg>
      <pc:sldChg chg="modSp mod">
        <pc:chgData name="Gireesh Maragani" userId="7b77be64e8a698e0" providerId="LiveId" clId="{CE8411A5-33E3-40F7-BA9B-AC1457EF8048}" dt="2026-06-05T13:45:15.761" v="74" actId="14100"/>
        <pc:sldMkLst>
          <pc:docMk/>
          <pc:sldMk cId="0" sldId="260"/>
        </pc:sldMkLst>
        <pc:spChg chg="mod">
          <ac:chgData name="Gireesh Maragani" userId="7b77be64e8a698e0" providerId="LiveId" clId="{CE8411A5-33E3-40F7-BA9B-AC1457EF8048}" dt="2026-06-05T13:45:11.903" v="73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3:45:15.761" v="74" actId="14100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Gireesh Maragani" userId="7b77be64e8a698e0" providerId="LiveId" clId="{CE8411A5-33E3-40F7-BA9B-AC1457EF8048}" dt="2026-06-05T13:38:53.452" v="72" actId="20577"/>
        <pc:sldMkLst>
          <pc:docMk/>
          <pc:sldMk cId="0" sldId="261"/>
        </pc:sldMkLst>
        <pc:spChg chg="mod">
          <ac:chgData name="Gireesh Maragani" userId="7b77be64e8a698e0" providerId="LiveId" clId="{CE8411A5-33E3-40F7-BA9B-AC1457EF8048}" dt="2026-06-05T13:38:40.083" v="62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3:38:47.526" v="68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3:38:53.452" v="72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3:38:29.624" v="57" actId="20577"/>
          <ac:spMkLst>
            <pc:docMk/>
            <pc:sldMk cId="0" sldId="261"/>
            <ac:spMk id="44" creationId="{00000000-0000-0000-0000-000000000000}"/>
          </ac:spMkLst>
        </pc:spChg>
      </pc:sldChg>
      <pc:sldChg chg="modSp mod">
        <pc:chgData name="Gireesh Maragani" userId="7b77be64e8a698e0" providerId="LiveId" clId="{CE8411A5-33E3-40F7-BA9B-AC1457EF8048}" dt="2026-06-05T13:45:40.175" v="78" actId="20577"/>
        <pc:sldMkLst>
          <pc:docMk/>
          <pc:sldMk cId="0" sldId="263"/>
        </pc:sldMkLst>
        <pc:spChg chg="mod">
          <ac:chgData name="Gireesh Maragani" userId="7b77be64e8a698e0" providerId="LiveId" clId="{CE8411A5-33E3-40F7-BA9B-AC1457EF8048}" dt="2026-06-05T13:45:40.175" v="78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Gireesh Maragani" userId="7b77be64e8a698e0" providerId="LiveId" clId="{CE8411A5-33E3-40F7-BA9B-AC1457EF8048}" dt="2026-06-05T13:45:27.356" v="76" actId="14100"/>
        <pc:sldMkLst>
          <pc:docMk/>
          <pc:sldMk cId="0" sldId="264"/>
        </pc:sldMkLst>
        <pc:spChg chg="mod">
          <ac:chgData name="Gireesh Maragani" userId="7b77be64e8a698e0" providerId="LiveId" clId="{CE8411A5-33E3-40F7-BA9B-AC1457EF8048}" dt="2026-06-05T13:45:24.229" v="75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Gireesh Maragani" userId="7b77be64e8a698e0" providerId="LiveId" clId="{CE8411A5-33E3-40F7-BA9B-AC1457EF8048}" dt="2026-06-05T13:45:27.356" v="76" actId="14100"/>
          <ac:spMkLst>
            <pc:docMk/>
            <pc:sldMk cId="0" sldId="264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09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hyperlink" Target="https://github.com/Gireesh462/Data-Science-Project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Wildfire Risk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02920" y="12618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Climate &amp; Environmental Data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Maragani Gireesh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Data Science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920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9204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Tai Hock Lin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2697480"/>
            <a:ext cx="2011680" cy="658368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04088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4088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Weeks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84124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3931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1.88M US Wildfires (Kaggle)  ·  Models: Ridge · Random Forest · XGBoost · MLP Neural Network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github.com/Gireesh462/Data-Science-Project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502920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87552" y="1152144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pose a serious threat to lives, ecosystems, and infrastructure across the United States. This project applies machine learning to predict whether a wildfire event is High Risk or Low Risk, using 1.88 million historical wildfire records spanning 1992 to 2015.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502920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87552" y="2404872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models are built and evaluated — Ridge Classifier, Random Forest, XGBoost, and MLP Neural Network. Class imbalance is handled using Balanced Bagging Classifier, and XGBoost is fine-tuned with Optuna hyperparameter optimisation.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584448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5760" y="3584448"/>
            <a:ext cx="502920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87552" y="3657600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evaluated using Accuracy, F1-Score, ROC-AUC, and 5-Fold Stratified Cross-Validation. ELI5 explainability identifies the environmental features that most strongly influence wildfire risk. All work is implemented in Python on Google Colab.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Project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1024128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"How accurately can ensemble models and neural networks classify wildfire risk using historical climate and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environmental data?"</a:t>
            </a:r>
          </a:p>
        </p:txBody>
      </p:sp>
      <p:sp>
        <p:nvSpPr>
          <p:cNvPr id="9" name="Text 6"/>
          <p:cNvSpPr/>
          <p:nvPr/>
        </p:nvSpPr>
        <p:spPr>
          <a:xfrm>
            <a:off x="384048" y="224028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1965960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43000" y="1810512"/>
            <a:ext cx="34290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411480" y="1810512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448056" y="223266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07008" y="1926118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1100" dirty="0"/>
              <a:t>ensemble models and neural networks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 identify the best-performing model for wildfire risk prediction by ROC-AUC and F1-score.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26440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65760" y="3264408"/>
            <a:ext cx="731520" cy="1207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4048" y="36301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 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07008" y="3355848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environmental predictors of high-risk wildfire events using ELI5 explainability analysis.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18888" y="3630168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41848" y="3355848"/>
            <a:ext cx="3273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7824" y="1106424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1.88M US Wildfire dataset from Kaggle using the kagglehub API.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856232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" y="191109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data — missing values, encoding, duplicates.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2660904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7824" y="271576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SEASON, RISK_BINARY, FIRE_SIZE_LOG, REGION.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465576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7824" y="352044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Balanced Bagging Classifier to handle the 90/10 class imbalance.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4270248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57200" y="4453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77824" y="432511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5 EDA charts and 1 interactive geospatial Folium heatmap.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00600" y="1051560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892040" y="123444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12664" y="1106424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models: Ridge Classifier, Random Forest, XGBoost, MLP Neural Network.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1856232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892040" y="203911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892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12664" y="191109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XGBoost using Optuna to maximise ROC-AUC.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800600" y="2660904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892040" y="284378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89204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12664" y="271576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F1, ROC-AUC, PR Curve, and 5-Fold Stratified CV.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800600" y="3465576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4892040" y="364845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8920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312664" y="352044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ELI5 to identify top environmental predictors of wildfire risk.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00600" y="4270248"/>
            <a:ext cx="42062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4892040" y="4453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89204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312664" y="432511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code to GitHub and save all outputs to Google Drive.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Models</a:t>
            </a:r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4038480" cy="2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403848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078992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Ridge Classifier</a:t>
            </a:r>
          </a:p>
        </p:txBody>
      </p:sp>
      <p:sp>
        <p:nvSpPr>
          <p:cNvPr id="8" name="Text 5"/>
          <p:cNvSpPr/>
          <p:nvPr/>
        </p:nvSpPr>
        <p:spPr>
          <a:xfrm>
            <a:off x="384048" y="1554480"/>
            <a:ext cx="3820032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</a:rPr>
              <a:t>Baseline model with L2 regularisation. Simple and fast — all other models must beat it.</a:t>
            </a:r>
          </a:p>
        </p:txBody>
      </p:sp>
      <p:sp>
        <p:nvSpPr>
          <p:cNvPr id="9" name="Shape 6"/>
          <p:cNvSpPr/>
          <p:nvPr/>
        </p:nvSpPr>
        <p:spPr>
          <a:xfrm>
            <a:off x="4831200" y="1024128"/>
            <a:ext cx="4038480" cy="2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31200" y="1024128"/>
            <a:ext cx="40384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922640" y="1078992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Random Forest</a:t>
            </a:r>
          </a:p>
        </p:txBody>
      </p:sp>
      <p:sp>
        <p:nvSpPr>
          <p:cNvPr id="12" name="Text 9"/>
          <p:cNvSpPr/>
          <p:nvPr/>
        </p:nvSpPr>
        <p:spPr>
          <a:xfrm>
            <a:off x="4940928" y="1554480"/>
            <a:ext cx="3820032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</a:rPr>
              <a:t>Handles noisy wildfire data well. Reduces overfitting. Strong on tabular structured data.</a:t>
            </a:r>
          </a:p>
        </p:txBody>
      </p:sp>
      <p:sp>
        <p:nvSpPr>
          <p:cNvPr id="13" name="Shape 10"/>
          <p:cNvSpPr/>
          <p:nvPr/>
        </p:nvSpPr>
        <p:spPr>
          <a:xfrm>
            <a:off x="274320" y="3200400"/>
            <a:ext cx="4038480" cy="1872343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4320" y="3200400"/>
            <a:ext cx="40384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65760" y="3255264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XGBoost</a:t>
            </a:r>
          </a:p>
        </p:txBody>
      </p:sp>
      <p:sp>
        <p:nvSpPr>
          <p:cNvPr id="16" name="Text 13"/>
          <p:cNvSpPr/>
          <p:nvPr/>
        </p:nvSpPr>
        <p:spPr>
          <a:xfrm>
            <a:off x="384048" y="3730752"/>
            <a:ext cx="3820032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</a:rPr>
              <a:t>Best performer on structured tabular data. Fine-tuned with Optuna for maximum accuracy.</a:t>
            </a:r>
          </a:p>
        </p:txBody>
      </p:sp>
      <p:sp>
        <p:nvSpPr>
          <p:cNvPr id="17" name="Shape 14"/>
          <p:cNvSpPr/>
          <p:nvPr/>
        </p:nvSpPr>
        <p:spPr>
          <a:xfrm>
            <a:off x="4831200" y="3200400"/>
            <a:ext cx="4038480" cy="168728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831200" y="3200400"/>
            <a:ext cx="4038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922640" y="3255264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MLP Neural Network</a:t>
            </a:r>
          </a:p>
        </p:txBody>
      </p:sp>
      <p:sp>
        <p:nvSpPr>
          <p:cNvPr id="20" name="Text 17"/>
          <p:cNvSpPr/>
          <p:nvPr/>
        </p:nvSpPr>
        <p:spPr>
          <a:xfrm>
            <a:off x="4940928" y="3730752"/>
            <a:ext cx="3820032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F2D"/>
                </a:solidFill>
                <a:latin typeface="Calibri" pitchFamily="34" charset="0"/>
              </a:rPr>
              <a:t>Captures complex non-linear patterns between climate features. Deep learning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Techniques</a:t>
            </a:r>
          </a:p>
        </p:txBody>
      </p:sp>
      <p:sp>
        <p:nvSpPr>
          <p:cNvPr id="5" name="Shape 2"/>
          <p:cNvSpPr/>
          <p:nvPr/>
        </p:nvSpPr>
        <p:spPr>
          <a:xfrm>
            <a:off x="274320" y="1295400"/>
            <a:ext cx="4038480" cy="35596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1295400"/>
            <a:ext cx="4038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350264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Balanced Bagging</a:t>
            </a:r>
          </a:p>
        </p:txBody>
      </p:sp>
      <p:sp>
        <p:nvSpPr>
          <p:cNvPr id="8" name="Text 5"/>
          <p:cNvSpPr/>
          <p:nvPr/>
        </p:nvSpPr>
        <p:spPr>
          <a:xfrm>
            <a:off x="384048" y="1825752"/>
            <a:ext cx="3820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2D"/>
                </a:solidFill>
                <a:latin typeface="Calibri" pitchFamily="34" charset="0"/>
              </a:rPr>
              <a:t>Fixes the 90/10 class imbalance problem by balancing each bootstrap sample automatically. Ensures the classifier sees equal proportions of High Risk and Low Risk wildfires during training, leading to a fairer and more accurate model.</a:t>
            </a:r>
          </a:p>
        </p:txBody>
      </p:sp>
      <p:sp>
        <p:nvSpPr>
          <p:cNvPr id="9" name="Shape 6"/>
          <p:cNvSpPr/>
          <p:nvPr/>
        </p:nvSpPr>
        <p:spPr>
          <a:xfrm>
            <a:off x="4831200" y="1295400"/>
            <a:ext cx="4038480" cy="355962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31200" y="1295400"/>
            <a:ext cx="4038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922640" y="1350264"/>
            <a:ext cx="385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Optuna + ELI5</a:t>
            </a:r>
          </a:p>
        </p:txBody>
      </p:sp>
      <p:sp>
        <p:nvSpPr>
          <p:cNvPr id="12" name="Text 9"/>
          <p:cNvSpPr/>
          <p:nvPr/>
        </p:nvSpPr>
        <p:spPr>
          <a:xfrm>
            <a:off x="4940928" y="1825752"/>
            <a:ext cx="3820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F2D"/>
                </a:solidFill>
                <a:latin typeface="Calibri" pitchFamily="34" charset="0"/>
              </a:rPr>
              <a:t>Optuna intelligently tunes XGBoost hyperparameters to maximise ROC-AUC. ELI5 then explains which environmental features drive High Risk wildfire predictions, providing model transparency and interpretability.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Week-by-Week Plan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621792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9264" y="1005840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60704" y="1097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– 1 Jun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42032" y="1097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42432" y="1097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ready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586484"/>
            <a:ext cx="621792" cy="5120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74320" y="16779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9264" y="1586484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60704" y="16779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2 -5 Jun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542032" y="16779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42432" y="16779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167128"/>
            <a:ext cx="621792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74320" y="225856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9264" y="2167128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060704" y="2258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 10Jun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42032" y="22585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+ EDA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42432" y="2258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+ 6 plots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747772"/>
            <a:ext cx="621792" cy="5120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74320" y="283921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9264" y="2747772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060704" y="28392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22 Jun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542032" y="28392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42432" y="28392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trained models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328416"/>
            <a:ext cx="621792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34198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9264" y="3328416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1060704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29 Jun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542032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 + Eval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42432" y="3419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+ eval plots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4320" y="3909060"/>
            <a:ext cx="621792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00050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69264" y="3909060"/>
            <a:ext cx="7909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1060704" y="40005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– 6 Jul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542032" y="40005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Ch. 1–3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742432" y="40005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1–3 drafted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74320" y="4489704"/>
            <a:ext cx="621792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74320" y="45811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W7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69264" y="4489704"/>
            <a:ext cx="7909560" cy="512064"/>
          </a:xfrm>
          <a:prstGeom prst="rect">
            <a:avLst/>
          </a:prstGeom>
          <a:solidFill>
            <a:srgbClr val="FFF7E6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1060704" y="4581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10 Jul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542032" y="4581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Completion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742432" y="4581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Strategy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" y="1024128"/>
            <a:ext cx="420624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9768" y="10698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463040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correctly classified wildfire events across all classes.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2412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54880" y="1024128"/>
            <a:ext cx="420624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64608" y="106984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64608" y="1463040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— critical when dealing with imbalanced High/Low Risk classes.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36829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20040" y="2368296"/>
            <a:ext cx="42062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29768" y="24140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9768" y="2807208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model's ability to distinguish between High Risk and Low Risk events.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36829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754880" y="2368296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864608" y="24140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Curve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64608" y="2807208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for deeper analysis of performance on the minority High Risk class.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371246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320040" y="3712464"/>
            <a:ext cx="42062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29768" y="37581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 Stratified CV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9768" y="4151376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model 5 times on different splits to confirm results are stable and generalisable.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71246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754880" y="3712464"/>
            <a:ext cx="42062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64608" y="37581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ELI5 Explainability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64608" y="4151376"/>
            <a:ext cx="3986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top environmental features driving High Risk wildfire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43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48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292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Risk Prediction  ·  Master of Data Science Final Year Project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9436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Maragani Gireesh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0604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69748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9748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Andy Tai Hock Lin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0060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July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12280" y="2103120"/>
            <a:ext cx="1920240" cy="804672"/>
          </a:xfrm>
          <a:prstGeom prst="rect">
            <a:avLst/>
          </a:prstGeom>
          <a:solidFill>
            <a:srgbClr val="1A3448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903720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03720" y="2359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Weeks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54680"/>
            <a:ext cx="347472" cy="347472"/>
          </a:xfrm>
          <a:prstGeom prst="rect">
            <a:avLst/>
          </a:prstGeom>
        </p:spPr>
      </p:pic>
      <p:sp>
        <p:nvSpPr>
          <p:cNvPr id="18" name="Text 14">
            <a:hlinkClick r:id="rId5"/>
          </p:cNvPr>
          <p:cNvSpPr/>
          <p:nvPr/>
        </p:nvSpPr>
        <p:spPr>
          <a:xfrm>
            <a:off x="960120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github.com/Gireesh462/Data-Science-Project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033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749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Drive: drive.google.com/drive/folders/1qNq5ZLyEogtSL4f5DMWdhrM3tz9bf8xu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 – 15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759</Words>
  <Application>Microsoft Office PowerPoint</Application>
  <PresentationFormat>On-screen Show (16:9)</PresentationFormat>
  <Paragraphs>122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Risk Prediction — PDM</dc:title>
  <dc:subject>PptxGenJS Presentation</dc:subject>
  <dc:creator>PptxGenJS</dc:creator>
  <cp:lastModifiedBy>Gireesh Maragani</cp:lastModifiedBy>
  <cp:revision>1</cp:revision>
  <dcterms:created xsi:type="dcterms:W3CDTF">2026-06-04T09:54:16Z</dcterms:created>
  <dcterms:modified xsi:type="dcterms:W3CDTF">2026-06-05T13:45:53Z</dcterms:modified>
</cp:coreProperties>
</file>