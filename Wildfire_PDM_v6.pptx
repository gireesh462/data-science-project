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45B081-DD7E-4279-A705-CF890F331BDF}" v="5" dt="2026-06-05T11:01:29.7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76" y="5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reesh Maragani" userId="7b77be64e8a698e0" providerId="LiveId" clId="{CE8411A5-33E3-40F7-BA9B-AC1457EF8048}"/>
    <pc:docChg chg="undo custSel modSld">
      <pc:chgData name="Gireesh Maragani" userId="7b77be64e8a698e0" providerId="LiveId" clId="{CE8411A5-33E3-40F7-BA9B-AC1457EF8048}" dt="2026-06-05T11:01:47.758" v="55" actId="207"/>
      <pc:docMkLst>
        <pc:docMk/>
      </pc:docMkLst>
      <pc:sldChg chg="addSp delSp modSp mod">
        <pc:chgData name="Gireesh Maragani" userId="7b77be64e8a698e0" providerId="LiveId" clId="{CE8411A5-33E3-40F7-BA9B-AC1457EF8048}" dt="2026-06-05T11:01:47.758" v="55" actId="207"/>
        <pc:sldMkLst>
          <pc:docMk/>
          <pc:sldMk cId="0" sldId="258"/>
        </pc:sldMkLst>
        <pc:spChg chg="mod">
          <ac:chgData name="Gireesh Maragani" userId="7b77be64e8a698e0" providerId="LiveId" clId="{CE8411A5-33E3-40F7-BA9B-AC1457EF8048}" dt="2026-06-05T11:01:14.721" v="27" actId="207"/>
          <ac:spMkLst>
            <pc:docMk/>
            <pc:sldMk cId="0" sldId="258"/>
            <ac:spMk id="6" creationId="{00000000-0000-0000-0000-000000000000}"/>
          </ac:spMkLst>
        </pc:spChg>
        <pc:spChg chg="del">
          <ac:chgData name="Gireesh Maragani" userId="7b77be64e8a698e0" providerId="LiveId" clId="{CE8411A5-33E3-40F7-BA9B-AC1457EF8048}" dt="2026-06-05T06:12:56.236" v="0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Gireesh Maragani" userId="7b77be64e8a698e0" providerId="LiveId" clId="{CE8411A5-33E3-40F7-BA9B-AC1457EF8048}" dt="2026-06-05T06:13:08.058" v="3" actId="478"/>
          <ac:spMkLst>
            <pc:docMk/>
            <pc:sldMk cId="0" sldId="258"/>
            <ac:spMk id="8" creationId="{00000000-0000-0000-0000-000000000000}"/>
          </ac:spMkLst>
        </pc:spChg>
        <pc:spChg chg="mod">
          <ac:chgData name="Gireesh Maragani" userId="7b77be64e8a698e0" providerId="LiveId" clId="{CE8411A5-33E3-40F7-BA9B-AC1457EF8048}" dt="2026-06-05T06:13:05.998" v="2" actId="6549"/>
          <ac:spMkLst>
            <pc:docMk/>
            <pc:sldMk cId="0" sldId="258"/>
            <ac:spMk id="9" creationId="{00000000-0000-0000-0000-000000000000}"/>
          </ac:spMkLst>
        </pc:spChg>
        <pc:spChg chg="mod">
          <ac:chgData name="Gireesh Maragani" userId="7b77be64e8a698e0" providerId="LiveId" clId="{CE8411A5-33E3-40F7-BA9B-AC1457EF8048}" dt="2026-06-05T06:13:01.598" v="1" actId="6549"/>
          <ac:spMkLst>
            <pc:docMk/>
            <pc:sldMk cId="0" sldId="258"/>
            <ac:spMk id="10" creationId="{00000000-0000-0000-0000-000000000000}"/>
          </ac:spMkLst>
        </pc:spChg>
        <pc:spChg chg="mod">
          <ac:chgData name="Gireesh Maragani" userId="7b77be64e8a698e0" providerId="LiveId" clId="{CE8411A5-33E3-40F7-BA9B-AC1457EF8048}" dt="2026-06-05T06:15:43.741" v="23" actId="1410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Gireesh Maragani" userId="7b77be64e8a698e0" providerId="LiveId" clId="{CE8411A5-33E3-40F7-BA9B-AC1457EF8048}" dt="2026-06-05T06:13:14.454" v="4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Gireesh Maragani" userId="7b77be64e8a698e0" providerId="LiveId" clId="{CE8411A5-33E3-40F7-BA9B-AC1457EF8048}" dt="2026-06-05T06:14:17.954" v="14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Gireesh Maragani" userId="7b77be64e8a698e0" providerId="LiveId" clId="{CE8411A5-33E3-40F7-BA9B-AC1457EF8048}" dt="2026-06-05T11:01:47.758" v="55" actId="207"/>
          <ac:spMkLst>
            <pc:docMk/>
            <pc:sldMk cId="0" sldId="258"/>
            <ac:spMk id="14" creationId="{00000000-0000-0000-0000-000000000000}"/>
          </ac:spMkLst>
        </pc:spChg>
        <pc:spChg chg="del mod">
          <ac:chgData name="Gireesh Maragani" userId="7b77be64e8a698e0" providerId="LiveId" clId="{CE8411A5-33E3-40F7-BA9B-AC1457EF8048}" dt="2026-06-05T06:14:07.532" v="12" actId="478"/>
          <ac:spMkLst>
            <pc:docMk/>
            <pc:sldMk cId="0" sldId="258"/>
            <ac:spMk id="19" creationId="{00000000-0000-0000-0000-000000000000}"/>
          </ac:spMkLst>
        </pc:spChg>
        <pc:spChg chg="del">
          <ac:chgData name="Gireesh Maragani" userId="7b77be64e8a698e0" providerId="LiveId" clId="{CE8411A5-33E3-40F7-BA9B-AC1457EF8048}" dt="2026-06-05T06:14:06.168" v="11" actId="478"/>
          <ac:spMkLst>
            <pc:docMk/>
            <pc:sldMk cId="0" sldId="258"/>
            <ac:spMk id="20" creationId="{00000000-0000-0000-0000-000000000000}"/>
          </ac:spMkLst>
        </pc:spChg>
        <pc:spChg chg="add mod">
          <ac:chgData name="Gireesh Maragani" userId="7b77be64e8a698e0" providerId="LiveId" clId="{CE8411A5-33E3-40F7-BA9B-AC1457EF8048}" dt="2026-06-05T06:13:45.478" v="8"/>
          <ac:spMkLst>
            <pc:docMk/>
            <pc:sldMk cId="0" sldId="258"/>
            <ac:spMk id="23" creationId="{EAE34E9B-091D-8271-61C2-7C87BDB22CD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3090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hyperlink" Target="https://github.com/Gireesh462/Data-Science-Project" TargetMode="Externa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82880"/>
            <a:ext cx="2011680" cy="2011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4572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Wildfire Risk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502920" y="126187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EA58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029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Climate &amp; Environmental Data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02920" y="2697480"/>
            <a:ext cx="2011680" cy="658368"/>
          </a:xfrm>
          <a:prstGeom prst="rect">
            <a:avLst/>
          </a:prstGeom>
          <a:solidFill>
            <a:srgbClr val="1A3448"/>
          </a:solidFill>
          <a:ln w="1524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594360" y="27432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94360" y="29260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Maragani Gireesh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51760" y="2697480"/>
            <a:ext cx="2011680" cy="658368"/>
          </a:xfrm>
          <a:prstGeom prst="rect">
            <a:avLst/>
          </a:prstGeom>
          <a:solidFill>
            <a:srgbClr val="1A3448"/>
          </a:solidFill>
          <a:ln w="1524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2743200" y="27432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743200" y="29260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of Data Science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800600" y="2697480"/>
            <a:ext cx="2011680" cy="658368"/>
          </a:xfrm>
          <a:prstGeom prst="rect">
            <a:avLst/>
          </a:prstGeom>
          <a:solidFill>
            <a:srgbClr val="1A3448"/>
          </a:solidFill>
          <a:ln w="1524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4892040" y="27432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892040" y="29260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Tai Hock Lin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949440" y="2697480"/>
            <a:ext cx="2011680" cy="658368"/>
          </a:xfrm>
          <a:prstGeom prst="rect">
            <a:avLst/>
          </a:prstGeom>
          <a:solidFill>
            <a:srgbClr val="1A3448"/>
          </a:solidFill>
          <a:ln w="1524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7040880" y="27432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040880" y="29260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Weeks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566160"/>
            <a:ext cx="8412480" cy="5029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639312"/>
            <a:ext cx="292608" cy="29260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00584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1.88M US Wildfires (Kaggle)  ·  Models: Ridge · Random Forest · XGBoost · MLP Neural Network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0292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github.com/Gireesh462/Data-Science-Project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6459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365760" y="1078992"/>
            <a:ext cx="8412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3"/>
          <p:cNvSpPr/>
          <p:nvPr/>
        </p:nvSpPr>
        <p:spPr>
          <a:xfrm>
            <a:off x="365760" y="1078992"/>
            <a:ext cx="502920" cy="10972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987552" y="1152144"/>
            <a:ext cx="76809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Wildfires pose a serious threat to lives, ecosystems, and infrastructure across the United States. This project applies machine learning to predict whether a wildfire event is High Risk or Low Risk, using 1.88 million historical wildfire records spanning 1992 to 2015.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2331720"/>
            <a:ext cx="8412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365760" y="2331720"/>
            <a:ext cx="502920" cy="109728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87552" y="2404872"/>
            <a:ext cx="76809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classification models are built and evaluated — Ridge Classifier, Random Forest, XGBoost, and MLP Neural Network. Class imbalance is handled using Balanced Bagging Classifier, and XGBoost is fine-tuned with Optuna hyperparameter optimisation.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65760" y="3584448"/>
            <a:ext cx="8412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365760" y="3584448"/>
            <a:ext cx="502920" cy="10972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987552" y="3657600"/>
            <a:ext cx="76809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is evaluated using Accuracy, F1-Score, ROC-AUC, and 5-Fold Stratified Cross-Validation. ELI5 explainability identifies the environmental features that most strongly influence wildfire risk. All work is implemented in Python on Google Colab.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6459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 &amp; Project Objectives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365760" y="1005840"/>
            <a:ext cx="8412480" cy="71323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548640" y="1024128"/>
            <a:ext cx="8046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"How accurately can ensemble models and neural networks classify wildfire risk using historical climate and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environmental data?"</a:t>
            </a:r>
          </a:p>
        </p:txBody>
      </p:sp>
      <p:sp>
        <p:nvSpPr>
          <p:cNvPr id="9" name="Text 6"/>
          <p:cNvSpPr/>
          <p:nvPr/>
        </p:nvSpPr>
        <p:spPr>
          <a:xfrm>
            <a:off x="384048" y="2240280"/>
            <a:ext cx="69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07008" y="1965960"/>
            <a:ext cx="32735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143000" y="1810512"/>
            <a:ext cx="342900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2" name="Shape 9"/>
          <p:cNvSpPr/>
          <p:nvPr/>
        </p:nvSpPr>
        <p:spPr>
          <a:xfrm>
            <a:off x="411480" y="1810512"/>
            <a:ext cx="731520" cy="120700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3" name="Text 10"/>
          <p:cNvSpPr/>
          <p:nvPr/>
        </p:nvSpPr>
        <p:spPr>
          <a:xfrm>
            <a:off x="448056" y="2232660"/>
            <a:ext cx="69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 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07008" y="1926118"/>
            <a:ext cx="32735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Compare </a:t>
            </a:r>
            <a:r>
              <a:rPr lang="en-US" sz="1100" dirty="0"/>
              <a:t>ensemble models and neural networks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to identify the best-performing model for wildfire risk prediction by ROC-AUC and F1-score.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3264408"/>
            <a:ext cx="420624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3"/>
          <p:cNvSpPr/>
          <p:nvPr/>
        </p:nvSpPr>
        <p:spPr>
          <a:xfrm>
            <a:off x="365760" y="3264408"/>
            <a:ext cx="731520" cy="120700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384048" y="3630168"/>
            <a:ext cx="69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 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07008" y="3355848"/>
            <a:ext cx="32735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strongest environmental predictors of high-risk wildfire events using ELI5 explainability analysis.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818888" y="3630168"/>
            <a:ext cx="69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641848" y="3355848"/>
            <a:ext cx="32735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6459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Steps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20624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457200" y="1234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77824" y="1106424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1.88M US Wildfire dataset from Kaggle using the kagglehub API.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1856232"/>
            <a:ext cx="420624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457200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77824" y="1911096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preprocess data — missing values, encoding, duplicates.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5760" y="2660904"/>
            <a:ext cx="420624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457200" y="284378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45720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77824" y="2715768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features: SEASON, RISK_BINARY, FIRE_SIZE_LOG, REGION.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3465576"/>
            <a:ext cx="420624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457200" y="364845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45720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77824" y="3520440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Balanced Bagging Classifier to handle the 90/10 class imbalance.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4270248"/>
            <a:ext cx="420624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19"/>
          <p:cNvSpPr/>
          <p:nvPr/>
        </p:nvSpPr>
        <p:spPr>
          <a:xfrm>
            <a:off x="457200" y="4453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457200" y="4453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77824" y="432511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5 EDA charts and 1 interactive geospatial Folium heatmap.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800600" y="1051560"/>
            <a:ext cx="420624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3"/>
          <p:cNvSpPr/>
          <p:nvPr/>
        </p:nvSpPr>
        <p:spPr>
          <a:xfrm>
            <a:off x="4892040" y="123444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4892040" y="1234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312664" y="1106424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4 models: Ridge Classifier, Random Forest, XGBoost, MLP Neural Network.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800600" y="1856232"/>
            <a:ext cx="420624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7"/>
          <p:cNvSpPr/>
          <p:nvPr/>
        </p:nvSpPr>
        <p:spPr>
          <a:xfrm>
            <a:off x="4892040" y="203911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8"/>
          <p:cNvSpPr/>
          <p:nvPr/>
        </p:nvSpPr>
        <p:spPr>
          <a:xfrm>
            <a:off x="4892040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312664" y="1911096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XGBoost using Optuna to maximise ROC-AUC.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800600" y="2660904"/>
            <a:ext cx="420624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1"/>
          <p:cNvSpPr/>
          <p:nvPr/>
        </p:nvSpPr>
        <p:spPr>
          <a:xfrm>
            <a:off x="4892040" y="284378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2"/>
          <p:cNvSpPr/>
          <p:nvPr/>
        </p:nvSpPr>
        <p:spPr>
          <a:xfrm>
            <a:off x="489204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312664" y="2715768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Accuracy, F1, ROC-AUC, PR Curve, and 5-Fold Stratified CV.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800600" y="3465576"/>
            <a:ext cx="420624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5"/>
          <p:cNvSpPr/>
          <p:nvPr/>
        </p:nvSpPr>
        <p:spPr>
          <a:xfrm>
            <a:off x="4892040" y="364845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6"/>
          <p:cNvSpPr/>
          <p:nvPr/>
        </p:nvSpPr>
        <p:spPr>
          <a:xfrm>
            <a:off x="489204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312664" y="3520440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ELI5 to identify top environmental predictors of wildfire risk.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4800600" y="4270248"/>
            <a:ext cx="420624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2" name="Shape 39"/>
          <p:cNvSpPr/>
          <p:nvPr/>
        </p:nvSpPr>
        <p:spPr>
          <a:xfrm>
            <a:off x="4892040" y="4453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0"/>
          <p:cNvSpPr/>
          <p:nvPr/>
        </p:nvSpPr>
        <p:spPr>
          <a:xfrm>
            <a:off x="4892040" y="4453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5312664" y="432511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all code to GitHub and save all outputs to Google Drive.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6459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</a:rPr>
              <a:t>Models</a:t>
            </a:r>
          </a:p>
        </p:txBody>
      </p:sp>
      <p:sp>
        <p:nvSpPr>
          <p:cNvPr id="5" name="Shape 2"/>
          <p:cNvSpPr/>
          <p:nvPr/>
        </p:nvSpPr>
        <p:spPr>
          <a:xfrm>
            <a:off x="274320" y="1024128"/>
            <a:ext cx="4038480" cy="20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3"/>
          <p:cNvSpPr/>
          <p:nvPr/>
        </p:nvSpPr>
        <p:spPr>
          <a:xfrm>
            <a:off x="274320" y="1024128"/>
            <a:ext cx="4038480" cy="4572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365760" y="1078992"/>
            <a:ext cx="385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</a:rPr>
              <a:t>Ridge Classifier</a:t>
            </a:r>
          </a:p>
        </p:txBody>
      </p:sp>
      <p:sp>
        <p:nvSpPr>
          <p:cNvPr id="8" name="Text 5"/>
          <p:cNvSpPr/>
          <p:nvPr/>
        </p:nvSpPr>
        <p:spPr>
          <a:xfrm>
            <a:off x="384048" y="1554480"/>
            <a:ext cx="3820032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0D1F2D"/>
                </a:solidFill>
                <a:latin typeface="Calibri" pitchFamily="34" charset="0"/>
              </a:rPr>
              <a:t>Baseline model with L2 regularisation. Simple and fast — all other models must beat it.</a:t>
            </a:r>
          </a:p>
        </p:txBody>
      </p:sp>
      <p:sp>
        <p:nvSpPr>
          <p:cNvPr id="9" name="Shape 6"/>
          <p:cNvSpPr/>
          <p:nvPr/>
        </p:nvSpPr>
        <p:spPr>
          <a:xfrm>
            <a:off x="4831200" y="1024128"/>
            <a:ext cx="4038480" cy="20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4831200" y="1024128"/>
            <a:ext cx="4038480" cy="4572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4922640" y="1078992"/>
            <a:ext cx="385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</a:rPr>
              <a:t>Random Forest</a:t>
            </a:r>
          </a:p>
        </p:txBody>
      </p:sp>
      <p:sp>
        <p:nvSpPr>
          <p:cNvPr id="12" name="Text 9"/>
          <p:cNvSpPr/>
          <p:nvPr/>
        </p:nvSpPr>
        <p:spPr>
          <a:xfrm>
            <a:off x="4940928" y="1554480"/>
            <a:ext cx="3820032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0D1F2D"/>
                </a:solidFill>
                <a:latin typeface="Calibri" pitchFamily="34" charset="0"/>
              </a:rPr>
              <a:t>Handles noisy wildfire data well. Reduces overfitting. Strong on tabular structured data.</a:t>
            </a:r>
          </a:p>
        </p:txBody>
      </p:sp>
      <p:sp>
        <p:nvSpPr>
          <p:cNvPr id="13" name="Shape 10"/>
          <p:cNvSpPr/>
          <p:nvPr/>
        </p:nvSpPr>
        <p:spPr>
          <a:xfrm>
            <a:off x="274320" y="3200400"/>
            <a:ext cx="4038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274320" y="3200400"/>
            <a:ext cx="4038480" cy="4572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365760" y="3255264"/>
            <a:ext cx="385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</a:rPr>
              <a:t>XGBoost</a:t>
            </a:r>
          </a:p>
        </p:txBody>
      </p:sp>
      <p:sp>
        <p:nvSpPr>
          <p:cNvPr id="16" name="Text 13"/>
          <p:cNvSpPr/>
          <p:nvPr/>
        </p:nvSpPr>
        <p:spPr>
          <a:xfrm>
            <a:off x="384048" y="3730752"/>
            <a:ext cx="3820032" cy="2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0D1F2D"/>
                </a:solidFill>
                <a:latin typeface="Calibri" pitchFamily="34" charset="0"/>
              </a:rPr>
              <a:t>Best performer on structured tabular data. Fine-tuned with Optuna for maximum accuracy.</a:t>
            </a:r>
          </a:p>
        </p:txBody>
      </p:sp>
      <p:sp>
        <p:nvSpPr>
          <p:cNvPr id="17" name="Shape 14"/>
          <p:cNvSpPr/>
          <p:nvPr/>
        </p:nvSpPr>
        <p:spPr>
          <a:xfrm>
            <a:off x="4831200" y="3200400"/>
            <a:ext cx="4038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4831200" y="3200400"/>
            <a:ext cx="403848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4922640" y="3255264"/>
            <a:ext cx="385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</a:rPr>
              <a:t>MLP Neural Network</a:t>
            </a:r>
          </a:p>
        </p:txBody>
      </p:sp>
      <p:sp>
        <p:nvSpPr>
          <p:cNvPr id="20" name="Text 17"/>
          <p:cNvSpPr/>
          <p:nvPr/>
        </p:nvSpPr>
        <p:spPr>
          <a:xfrm>
            <a:off x="4940928" y="3730752"/>
            <a:ext cx="3820032" cy="2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0D1F2D"/>
                </a:solidFill>
                <a:latin typeface="Calibri" pitchFamily="34" charset="0"/>
              </a:rPr>
              <a:t>Captures complex non-linear patterns between climate features. Deep learning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6459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</a:rPr>
              <a:t>Techniques</a:t>
            </a:r>
          </a:p>
        </p:txBody>
      </p:sp>
      <p:sp>
        <p:nvSpPr>
          <p:cNvPr id="5" name="Shape 2"/>
          <p:cNvSpPr/>
          <p:nvPr/>
        </p:nvSpPr>
        <p:spPr>
          <a:xfrm>
            <a:off x="274320" y="1295400"/>
            <a:ext cx="4038480" cy="48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3"/>
          <p:cNvSpPr/>
          <p:nvPr/>
        </p:nvSpPr>
        <p:spPr>
          <a:xfrm>
            <a:off x="274320" y="1295400"/>
            <a:ext cx="403848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365760" y="1350264"/>
            <a:ext cx="385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</a:rPr>
              <a:t>Balanced Bagging</a:t>
            </a:r>
          </a:p>
        </p:txBody>
      </p:sp>
      <p:sp>
        <p:nvSpPr>
          <p:cNvPr id="8" name="Text 5"/>
          <p:cNvSpPr/>
          <p:nvPr/>
        </p:nvSpPr>
        <p:spPr>
          <a:xfrm>
            <a:off x="384048" y="1825752"/>
            <a:ext cx="382003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</a:rPr>
              <a:t>Fixes the 90/10 class imbalance problem by balancing each bootstrap sample automatically. Ensures the classifier sees equal proportions of High Risk and Low Risk wildfires during training, leading to a fairer and more accurate model.</a:t>
            </a:r>
          </a:p>
        </p:txBody>
      </p:sp>
      <p:sp>
        <p:nvSpPr>
          <p:cNvPr id="9" name="Shape 6"/>
          <p:cNvSpPr/>
          <p:nvPr/>
        </p:nvSpPr>
        <p:spPr>
          <a:xfrm>
            <a:off x="4831200" y="1295400"/>
            <a:ext cx="4038480" cy="48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4831200" y="1295400"/>
            <a:ext cx="4038480" cy="457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4922640" y="1350264"/>
            <a:ext cx="385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</a:rPr>
              <a:t>Optuna + ELI5</a:t>
            </a:r>
          </a:p>
        </p:txBody>
      </p:sp>
      <p:sp>
        <p:nvSpPr>
          <p:cNvPr id="12" name="Text 9"/>
          <p:cNvSpPr/>
          <p:nvPr/>
        </p:nvSpPr>
        <p:spPr>
          <a:xfrm>
            <a:off x="4940928" y="1825752"/>
            <a:ext cx="382003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</a:rPr>
              <a:t>Optuna intelligently tunes XGBoost hyperparameters to maximise ROC-AUC. ELI5 then explains which environmental features drive High Risk wildfire predictions, providing model transparency and interpretability.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6459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Week-by-Week Plan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74320" y="1005840"/>
            <a:ext cx="621792" cy="5120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274320" y="1097280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1005840"/>
            <a:ext cx="7909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1060704" y="10972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May – 1 Jun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542032" y="10972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Setup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42432" y="109728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ready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4320" y="1586484"/>
            <a:ext cx="621792" cy="51206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274320" y="1677924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69264" y="1586484"/>
            <a:ext cx="7909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1060704" y="16779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8 Jun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2542032" y="16779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742432" y="16779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dataset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" y="2167128"/>
            <a:ext cx="621792" cy="5120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/>
          <p:nvPr/>
        </p:nvSpPr>
        <p:spPr>
          <a:xfrm>
            <a:off x="274320" y="2258568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2167128"/>
            <a:ext cx="7909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1060704" y="22585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– 15 Jun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2542032" y="22585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 + EDA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742432" y="22585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matrix + 6 plots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74320" y="2747772"/>
            <a:ext cx="621792" cy="5120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274320" y="2839212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69264" y="2747772"/>
            <a:ext cx="7909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3"/>
          <p:cNvSpPr/>
          <p:nvPr/>
        </p:nvSpPr>
        <p:spPr>
          <a:xfrm>
            <a:off x="1060704" y="28392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– 22 Jun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2542032" y="283921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742432" y="28392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trained models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74320" y="3328416"/>
            <a:ext cx="621792" cy="5120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274320" y="3419856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W5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969264" y="3328416"/>
            <a:ext cx="7909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1060704" y="34198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– 29 Jun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542032" y="34198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Tuning + Eval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742432" y="34198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XGBoost + eval plots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74320" y="3909060"/>
            <a:ext cx="621792" cy="5120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3"/>
          <p:cNvSpPr/>
          <p:nvPr/>
        </p:nvSpPr>
        <p:spPr>
          <a:xfrm>
            <a:off x="274320" y="4000500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W6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969264" y="3909060"/>
            <a:ext cx="79095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1060704" y="40005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Jun – 6 Jul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2542032" y="400050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Ch. 1–3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742432" y="400050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1–3 drafted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274320" y="4489704"/>
            <a:ext cx="621792" cy="5120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274320" y="4581144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W7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969264" y="4489704"/>
            <a:ext cx="7909560" cy="512064"/>
          </a:xfrm>
          <a:prstGeom prst="rect">
            <a:avLst/>
          </a:prstGeom>
          <a:solidFill>
            <a:srgbClr val="FFF7E6"/>
          </a:solidFill>
          <a:ln w="1905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1"/>
          <p:cNvSpPr/>
          <p:nvPr/>
        </p:nvSpPr>
        <p:spPr>
          <a:xfrm>
            <a:off x="1060704" y="458114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– 15 Jul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2542032" y="4581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Completion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5742432" y="45811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SUBMISSION ✓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6459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Strategy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320040" y="1024128"/>
            <a:ext cx="420624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3"/>
          <p:cNvSpPr/>
          <p:nvPr/>
        </p:nvSpPr>
        <p:spPr>
          <a:xfrm>
            <a:off x="320040" y="1024128"/>
            <a:ext cx="4206240" cy="36576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429768" y="1069848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29768" y="1463040"/>
            <a:ext cx="39867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proportion of correctly classified wildfire events across all classes.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024128"/>
            <a:ext cx="420624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4754880" y="1024128"/>
            <a:ext cx="4206240" cy="36576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4864608" y="1069848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F1-Score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864608" y="1463040"/>
            <a:ext cx="39867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precision and recall — critical when dealing with imbalanced High/Low Risk classes.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0040" y="2368296"/>
            <a:ext cx="420624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320040" y="2368296"/>
            <a:ext cx="4206240" cy="36576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429768" y="2414016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ROC-AUC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29768" y="2807208"/>
            <a:ext cx="39867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the model's ability to distinguish between High Risk and Low Risk events.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754880" y="2368296"/>
            <a:ext cx="420624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4754880" y="2368296"/>
            <a:ext cx="420624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4864608" y="2414016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 Curve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864608" y="2807208"/>
            <a:ext cx="39867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Precision-Recall curve for deeper analysis of performance on the minority High Risk class.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20040" y="3712464"/>
            <a:ext cx="420624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19"/>
          <p:cNvSpPr/>
          <p:nvPr/>
        </p:nvSpPr>
        <p:spPr>
          <a:xfrm>
            <a:off x="320040" y="3712464"/>
            <a:ext cx="4206240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429768" y="3758184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5-Fold Stratified CV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29768" y="4151376"/>
            <a:ext cx="39867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the model 5 times on different splits to confirm results are stable and generalisable.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54880" y="3712464"/>
            <a:ext cx="420624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3"/>
          <p:cNvSpPr/>
          <p:nvPr/>
        </p:nvSpPr>
        <p:spPr>
          <a:xfrm>
            <a:off x="4754880" y="3712464"/>
            <a:ext cx="4206240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4864608" y="3758184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ELI5 Explainability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864608" y="4151376"/>
            <a:ext cx="39867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the top environmental features driving High Risk wildfire predictions.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74320"/>
            <a:ext cx="2011680" cy="2011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486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502920" y="1508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Wildfire Risk Prediction  ·  Master of Data Science Final Year Project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02920" y="2103120"/>
            <a:ext cx="1920240" cy="804672"/>
          </a:xfrm>
          <a:prstGeom prst="rect">
            <a:avLst/>
          </a:prstGeom>
          <a:solidFill>
            <a:srgbClr val="1A3448"/>
          </a:solidFill>
          <a:ln w="1524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594360" y="215798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94360" y="235915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Maragani Gireesh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606040" y="2103120"/>
            <a:ext cx="1920240" cy="804672"/>
          </a:xfrm>
          <a:prstGeom prst="rect">
            <a:avLst/>
          </a:prstGeom>
          <a:solidFill>
            <a:srgbClr val="1A3448"/>
          </a:solidFill>
          <a:ln w="1524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2697480" y="215798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697480" y="235915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Andy Tai Hock Lin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2103120"/>
            <a:ext cx="1920240" cy="804672"/>
          </a:xfrm>
          <a:prstGeom prst="rect">
            <a:avLst/>
          </a:prstGeom>
          <a:solidFill>
            <a:srgbClr val="1A3448"/>
          </a:solidFill>
          <a:ln w="1524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4800600" y="215798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800600" y="235915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July 2026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12280" y="2103120"/>
            <a:ext cx="1920240" cy="804672"/>
          </a:xfrm>
          <a:prstGeom prst="rect">
            <a:avLst/>
          </a:prstGeom>
          <a:solidFill>
            <a:srgbClr val="1A3448"/>
          </a:solidFill>
          <a:ln w="1524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6903720" y="215798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903720" y="235915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Weeks</a:t>
            </a:r>
            <a:endParaRPr lang="en-US" sz="12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54680"/>
            <a:ext cx="347472" cy="347472"/>
          </a:xfrm>
          <a:prstGeom prst="rect">
            <a:avLst/>
          </a:prstGeom>
        </p:spPr>
      </p:pic>
      <p:sp>
        <p:nvSpPr>
          <p:cNvPr id="18" name="Text 14">
            <a:hlinkClick r:id="rId5"/>
          </p:cNvPr>
          <p:cNvSpPr/>
          <p:nvPr/>
        </p:nvSpPr>
        <p:spPr>
          <a:xfrm>
            <a:off x="960120" y="320040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u="sng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github.com/Gireesh462/Data-Science-Project</a:t>
            </a:r>
            <a:endParaRPr lang="en-US" sz="12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70332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60120" y="37490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Drive: drive.google.com/drive/folders/1qNq5ZLyEogtSL4f5DMWdhrM3tz9bf8xu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0292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May 2026 – 15 July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760</Words>
  <Application>Microsoft Office PowerPoint</Application>
  <PresentationFormat>On-screen Show (16:9)</PresentationFormat>
  <Paragraphs>122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Wildfire Risk Prediction — PDM</dc:title>
  <dc:subject>PptxGenJS Presentation</dc:subject>
  <dc:creator>PptxGenJS</dc:creator>
  <cp:lastModifiedBy>Gireesh Maragani</cp:lastModifiedBy>
  <cp:revision>1</cp:revision>
  <dcterms:created xsi:type="dcterms:W3CDTF">2026-06-04T09:54:16Z</dcterms:created>
  <dcterms:modified xsi:type="dcterms:W3CDTF">2026-06-05T11:01:48Z</dcterms:modified>
</cp:coreProperties>
</file>